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24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274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do-do.app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4944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Meeting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0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 layer for shared lives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3200400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Not for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THE ORIGIN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tried OurFamilyWizard. Three problems.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30632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260604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separate modules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79806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expenses, messages, tasks - all separate sections. Jump between them every time something changes. Things fall through the gaps. No single object holds the whole picture.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2331720" cy="1828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005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 answer: one card = event + expense + message thread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73552" y="1828800"/>
            <a:ext cx="2606040" cy="30632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828800"/>
            <a:ext cx="260604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10712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calendar sync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279806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OFW has its own calendar that doesn't connect to Google or iCloud. Every event entered twice. When something changes, one place gets updated and the other doesn't.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10712" y="3931920"/>
            <a:ext cx="2331720" cy="1828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4005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 answer: bi-directional Google + Apple sync, built from day one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9904" y="1828800"/>
            <a:ext cx="2606040" cy="30632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828800"/>
            <a:ext cx="260604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27064" y="23591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updates when a week changes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7064" y="2798064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custody week shifts - holiday, illness, new agreement - every card requires a manual update. No cascade. No 'move Week A' action. Go through each event one by one.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27064" y="3931920"/>
            <a:ext cx="2331720" cy="18288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400507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 answer: schedule cascade - one action moves the whole week (SEG-11)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I built what I actually wanted."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failure is a trust problem, not a productivity 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pain happens in moments - not in abstract disorganization.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54864" cy="33832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00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disputed pickup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24231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 says they told the other. The other says they never did. The child stands outside school. Not a scheduling failure - a trust breakdown that takes weeks to repair.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72768"/>
            <a:ext cx="54864" cy="338328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700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without a trail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29968"/>
            <a:ext cx="24231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parents are legally required to split extraordinary costs. No shared record means every invoice becomes an argument. Do-Do's expense tracking is evidence management.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572768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72768"/>
            <a:ext cx="54864" cy="3383280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00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mental load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029968"/>
            <a:ext cx="24231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holds everything: schedules, appointments, groceries. The other partner literally cannot see the problem. The resentment is diffuse and chronic.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TARGET SEGMENTS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 - and how much they will pay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435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43584"/>
            <a:ext cx="54864" cy="76809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16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/ divorced parents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obligation to track costs. Coordination failure has real consequences. Highest urgency.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1408176"/>
            <a:ext cx="1325880" cy="42062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4081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WTP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57984"/>
            <a:ext cx="54864" cy="768096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31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still together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25603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load imbalance creates chronic resentment. Do-Do makes the invisible visible to both partners.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23760" y="2322576"/>
            <a:ext cx="1325880" cy="42062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3225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WTP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72384"/>
            <a:ext cx="54864" cy="768096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145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 coordinating elderly parent care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4747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took them to the doctor? Who ordered meds? Underserved, stressed, willing to pay for peace.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23760" y="3236976"/>
            <a:ext cx="1325880" cy="42062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32369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WTP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9867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86784"/>
            <a:ext cx="54864" cy="768096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59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Flatmates / housemates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43891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Splitwise already owns this segment. Do not build for or market to flatmates.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23760" y="4151376"/>
            <a:ext cx="1325880" cy="420624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415137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WTP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- before couples and caregivers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Divorce/separation only. Multiply TAM 4-6x when all segments included.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578608" cy="28346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20240"/>
            <a:ext cx="2578608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299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 Poland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30936" y="30723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separations / divorces per year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456432"/>
            <a:ext cx="212140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520440"/>
            <a:ext cx="2212848" cy="2560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MARKET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" y="38404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divorce rate, large population, low existing digital solutions.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9272" y="1920240"/>
            <a:ext cx="2578608" cy="28346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9272" y="1920240"/>
            <a:ext cx="2578608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20299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Germany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9272" y="23774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140,000+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447288" y="30723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divorces per year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47872" y="3456432"/>
            <a:ext cx="212140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02152" y="3520440"/>
            <a:ext cx="2212848" cy="256032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3520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EXPANSION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47288" y="38404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in EU. Terrible existing tools. High willingness to pay.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35624" y="1920240"/>
            <a:ext cx="2578608" cy="28346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1920240"/>
            <a:ext cx="2578608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202996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 Switzerland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35624" y="237744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263640" y="3072384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divorces per year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64224" y="3456432"/>
            <a:ext cx="212140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8504" y="3520440"/>
            <a:ext cx="2212848" cy="2560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3520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MARKET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8404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population, highest income in Europe, very high LTV per user.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 - one shared space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618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618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7190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for tasks, events, requests, expenses. Both people see everything in real time. AI-powered entry.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2618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2618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56432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Card Entry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17190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naturally. Claude Haiku extracts date, type, assignee, reminder. No forms to fill.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2618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12618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91072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17190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Time-grid view with hour-snap drag. Recurring events on all their days. Import any Google Calendar. Bi-directional sync. Conflicts flagged with AI.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906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0906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costs, upload receipts, request payment via Stripe. Running balance always visible. Apple/Google Pay.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30906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30906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5643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Reminders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56432" y="35478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- reminders reach the right person. Quiet hours respected. App-only or calendar-linked delivery. Email + web push.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3090672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26480" y="3090672"/>
            <a:ext cx="26974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9107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91072" y="35478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of cards with real messages, sorted by latest activity. Context stays with the card. Real-time sync.</a:t>
            </a:r>
            <a:endParaRPr lang="en-US" sz="1050" dirty="0"/>
          </a:p>
        </p:txBody>
      </p:sp>
      <p:sp>
        <p:nvSpPr>
          <p:cNvPr id="30" name="TextBox 29"/>
          <p:cNvSpPr txBox="1"/>
          <p:nvPr/>
        </p:nvSpPr>
        <p:spPr>
          <a:xfrm>
            <a:off x="457200" y="4695825"/>
            <a:ext cx="82296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88888"/>
                </a:solidFill>
              </a:rPr>
              <a:t>Also live: Shopping List (real-time sync)  ·  Custody Calendar (7-7 / 2-2-3 / 5-2 templates)  ·  PWA offline sync  ·  GDPR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OurFamilyWizard is the market leader. These are its exact failures.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OurFamilyWizard  - used by the founder, three documented failures: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06040" cy="1115568"/>
          </a:xfrm>
          <a:prstGeom prst="rect">
            <a:avLst/>
          </a:prstGeom>
          <a:solidFill>
            <a:srgbClr val="FFF5F5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2606040" cy="4572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64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modules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197510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expenses, messages, tasks are separate sections. No unified view of a single situation.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1572768"/>
            <a:ext cx="2606040" cy="1115568"/>
          </a:xfrm>
          <a:prstGeom prst="rect">
            <a:avLst/>
          </a:prstGeom>
          <a:solidFill>
            <a:srgbClr val="FFF5F5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572768"/>
            <a:ext cx="2606040" cy="4572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664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calendar sync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10712" y="197510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OFW calendar is isolated from Google and iCloud. Every event entered twice. Double updates when anything changes.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1572768"/>
            <a:ext cx="2606040" cy="1115568"/>
          </a:xfrm>
          <a:prstGeom prst="rect">
            <a:avLst/>
          </a:prstGeom>
          <a:solidFill>
            <a:srgbClr val="FFF5F5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572768"/>
            <a:ext cx="2606040" cy="45720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664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schedule cascade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27064" y="197510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custody week means manually updating every dependent event. No cascade action exists.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tools: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08960"/>
            <a:ext cx="45720" cy="438912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163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Messenger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0" y="31638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structure. No accountability. 'You never told me' still happens every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0" y="3182112"/>
            <a:ext cx="18288" cy="292608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21024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21024"/>
            <a:ext cx="45720" cy="438912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75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0" y="36758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only. No tasks, expenses, receipts, or dual-party push notifications.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3694176"/>
            <a:ext cx="18288" cy="292608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3308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33088"/>
            <a:ext cx="45720" cy="438912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187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Notes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0" y="4187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One-sided. No dual-party notifications. No expense tracking. No evidence layer.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0" y="4206240"/>
            <a:ext cx="18288" cy="292608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6634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 is a direct answer to OFW's three failures: unified card, real calendar sync, schedule cascade. Built by someone who hit those walls.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PRICING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Per-market pricing at purchasing power parity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578608" cy="288036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2578608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[PL]  Poland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1401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19 /mo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9992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169 /yr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" y="3364992"/>
            <a:ext cx="2066544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381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EUR 3.90 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" y="3785616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 cards + 14-day trial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9272" y="1920240"/>
            <a:ext cx="2578608" cy="288036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1920240"/>
            <a:ext cx="2578608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20299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[DE]  Germany / Austria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9272" y="241401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7.90 /mo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19272" y="29992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69 /yr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75304" y="3364992"/>
            <a:ext cx="2066544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34381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CHF 8.60 /mo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785616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 cards + 14-day trial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35624" y="1920240"/>
            <a:ext cx="2578608" cy="288036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35624" y="1920240"/>
            <a:ext cx="2578608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20299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[CH]  Switzerland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35624" y="2414016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9.90 /mo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35624" y="299923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89 /yr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91656" y="3364992"/>
            <a:ext cx="2066544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4381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income market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45352" y="3785616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10 cards + 14-day trial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detection: de-CH/fr-CH -&gt; CHF  |  pl -&gt; PLN  |  de/de-DE -&gt; EUR  |  All others -&gt; CHF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work at a surprisingly small scale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108960" cy="283464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infrastructure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24871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8712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3160" y="28712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2552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email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23160" y="32552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3639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23160" y="36393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40233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3160" y="40233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4352544"/>
            <a:ext cx="2834640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4074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fixed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44074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~134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2011680"/>
            <a:ext cx="237744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0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/ pair / 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23957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8.77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49040" y="2926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Stripe fees (blended 65/35)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2011680"/>
            <a:ext cx="2560320" cy="61264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20482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2313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pairs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2724912"/>
            <a:ext cx="2560320" cy="61264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27614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2k after tax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3026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~340 pairs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3438144"/>
            <a:ext cx="2560320" cy="61264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34747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5k after tax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3739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~850 pairs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4151376"/>
            <a:ext cx="2560320" cy="612648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92240" y="4187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10k after tax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4453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~1,650 pairs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30% effective Swiss tax rate (federal + cantonal + AHV). Stripe EU rate: 1.4% + CHF 0.25 per transaction.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DISTRIBUTION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ordered by expected yield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435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43584"/>
            <a:ext cx="54864" cy="76809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43584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1307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mediators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335024"/>
            <a:ext cx="1417320" cy="21031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33502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YIELD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51560" y="16459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mediator sees 20-50 active cases per month. One referral partner is a steady pipeline at peak pain. Offer 6 free months to any client in active mediation.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57984"/>
            <a:ext cx="54864" cy="768096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57984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51560" y="2221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Facebook parent groups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2249424"/>
            <a:ext cx="1417320" cy="210312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24942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REACH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51560" y="25603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thousands of members. Post founder story, not product pitch. "I built this because I needed it" gets 10x more engagement than an 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72384"/>
            <a:ext cx="54864" cy="768096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72384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51560" y="3136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parent WhatsApp / Messenger groups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80560" y="3163824"/>
            <a:ext cx="1417320" cy="210312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16382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51560" y="34747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active parent in a 25-child class is a referral to 25 pairs. Ask each founding user to mention it in their class group.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86784"/>
            <a:ext cx="8229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86784"/>
            <a:ext cx="54864" cy="768096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986784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51560" y="4050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Wykop.pl / Reddit Poland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480560" y="4078224"/>
            <a:ext cx="1417320" cy="210312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407822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AUDIENCE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51560" y="43891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founder post in Polish. The platform rewards genuine stories over product pitches. Lower ceiling, higher-quality users.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UNCONVENTIONAL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most apps would not think of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0195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a survey, not a product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223113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in Polish parent groups before mentioning Do-Do. Survey gets shared. You collect 500 responses and a warm list primed for the solution.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82880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90195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it as conflict insurance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65192" y="223113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"PLN 19/month to end the 'you never told me' argument." Insurance framing converts 2-3x better than productivity framing for high-stakes personal problems.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992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Court-ordered mediation pipeline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" y="332841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courts mandate mediation before divorce. One relationship with a court mediator network is a steady pipeline at exactly the moment users need Do-Do most.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2608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9992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active mediation clients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65192" y="332841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free months for pairs in mediation, verified by their mediator. They become case studies, their mediator becomes an advocate, and they are dependent on the tool when it ends.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2336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0965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second-partner cold email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Partner B doesn't join after 3 days: "Only Bart can see what's on the shared list. You're missing context that affects you." FOMO, not obligation.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4023360"/>
            <a:ext cx="4160520" cy="9601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4023360"/>
            <a:ext cx="54864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40965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is the real launch window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65192" y="4425696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starts, schedules change, costs spike, separated parents renegotiate. Every family coordination pain point peaks in September. Time the public launch for late August.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verify need before scaling spend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 that determines whether the pilot succeeds: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9601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7276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join rate  &gt;60%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217920" y="157276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50%: no other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matters at 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55448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050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signal: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50% = wrong segment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26517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5176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reason #1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3931920"/>
            <a:ext cx="155448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40050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signal: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= more interviews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pairs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 90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931920"/>
            <a:ext cx="155448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0050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signal: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20 at day 60 - stop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26517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788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3931920"/>
            <a:ext cx="155448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0050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signal: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20 = no PMF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MESSAGING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 - and what not 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3977640" cy="3657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5C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3977640" cy="329184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"Family coordination app for co-parents"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3566160" cy="10973"/>
          </a:xfrm>
          <a:prstGeom prst="rect">
            <a:avLst/>
          </a:prstGeom>
          <a:solidFill>
            <a:srgbClr val="F5C0C0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505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separated and divorced families"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3566160" cy="10973"/>
          </a:xfrm>
          <a:prstGeom prst="rect">
            <a:avLst/>
          </a:prstGeom>
          <a:solidFill>
            <a:srgbClr val="F5C0C0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8211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"Organize your co-parenting"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76472"/>
            <a:ext cx="3566160" cy="10973"/>
          </a:xfrm>
          <a:prstGeom prst="rect">
            <a:avLst/>
          </a:prstGeom>
          <a:solidFill>
            <a:srgbClr val="F5C0C0"/>
          </a:solidFill>
          <a:ln w="12700">
            <a:solidFill>
              <a:srgbClr val="F5C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136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app for divorced couples"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261872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61872"/>
            <a:ext cx="3977640" cy="32918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26187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INSTEAD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71907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shared board for everything that matters"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2313432"/>
            <a:ext cx="3566160" cy="10973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5059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 people. One place. Nothing falls through."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3044952"/>
            <a:ext cx="3566160" cy="10973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8211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"PLN 19/month to end the 'you never told me'"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92040" y="3776472"/>
            <a:ext cx="3566160" cy="10973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91363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anyone running a shared life together"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PILOT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 - 90 days to 50 paying pairs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578608" cy="30175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2578608" cy="54864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221284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0662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- 10 founding users via personal network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325526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Validate PLN price: test 19 vs 29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80390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Polish privacy policy + UODO disclosure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BLIK payment end-to-end test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9272" y="1920240"/>
            <a:ext cx="2578608" cy="30175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9272" y="1920240"/>
            <a:ext cx="2578608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02996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9272" y="23591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02152" y="2651760"/>
            <a:ext cx="221284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70662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Mediator outreach - 20 contacts, target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02152" y="325526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Founder story post - FB groups + Wykop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02152" y="380390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Ask founding users to share in school groups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02152" y="435254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Interview every churned user personally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35624" y="1920240"/>
            <a:ext cx="2578608" cy="301752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35624" y="1920240"/>
            <a:ext cx="2578608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202996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35624" y="23591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7-12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18504" y="2651760"/>
            <a:ext cx="2212848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270662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Double down on converting channel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18504" y="325526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Launch survey for next cohort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18504" y="380390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Prepare Germany if retention &gt;70%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18504" y="4352544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 Store only after pilot proves model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A5F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sequence - do not rush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2286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505456"/>
            <a:ext cx="8065008" cy="54864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61872"/>
            <a:ext cx="1572768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 pilot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- Sep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15568" y="2414016"/>
            <a:ext cx="256032" cy="25603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paying pairs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&gt;70%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join &gt;60%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pricing live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76272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76272" y="1261872"/>
            <a:ext cx="1572768" cy="45720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9424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49424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2414016"/>
            <a:ext cx="256032" cy="256032"/>
          </a:xfrm>
          <a:prstGeom prst="ellipse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76272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67712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UI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7.90/mo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mediators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 divorces/yr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95344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95344" y="1261872"/>
            <a:ext cx="1572768" cy="4572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68496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53712" y="2414016"/>
            <a:ext cx="256032" cy="256032"/>
          </a:xfrm>
          <a:prstGeom prst="ellipse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86784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discovery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 per market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wrapper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14416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14416" y="1261872"/>
            <a:ext cx="1572768" cy="4572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87568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72784" y="2414016"/>
            <a:ext cx="256032" cy="256032"/>
          </a:xfrm>
          <a:prstGeom prst="ellipse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14416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05856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pricing live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segment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high LTV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261872"/>
            <a:ext cx="157276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33488" y="1261872"/>
            <a:ext cx="1572768" cy="45720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137160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/ Nordics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406640" y="171907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991856" y="2414016"/>
            <a:ext cx="256032" cy="256032"/>
          </a:xfrm>
          <a:prstGeom prst="ellipse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33488" y="2788920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424928" y="2880360"/>
            <a:ext cx="13898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market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EU divorce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MRR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enter France, US, or Nordics before Germany validates the model.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4864" cy="20116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</a:rPr>
              <a:t>MOAT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SEG-11 - Features that make Do-Do impossible to leave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6052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13716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20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 Legal export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920240"/>
            <a:ext cx="1170432" cy="23774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92024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URGENT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1792" y="22311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pilot ends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468880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PDF of all expenses, cards, messages in court-presentable format. Lawyer-endorsed. After 12 months of records, no competitor can give users that history retroactively.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828800"/>
            <a:ext cx="416052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828800"/>
            <a:ext cx="54864" cy="1371600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920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 Shared history 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53528" y="1920240"/>
            <a:ext cx="1170432" cy="23774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192024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WIN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19472" y="22311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of pilot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9472" y="2468880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 and [partner] have coordinated 47 things together.' Makes the switching cost emotionally real. 1 day to build.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416052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37560"/>
            <a:ext cx="54864" cy="1371600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 Mediator dashboard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55848" y="3429000"/>
            <a:ext cx="1170432" cy="237744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4290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1792" y="37398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1st mediator meeting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3977640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Bookmarkable stats page for mediators. No login. 'Families referred: 8. Both active: 6.' Closes the feedback loop and keeps mediators invested.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337560"/>
            <a:ext cx="416052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337560"/>
            <a:ext cx="54864" cy="137160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  Schedule cascade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53528" y="3429000"/>
            <a:ext cx="1170432" cy="237744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342900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OFW KILLER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19472" y="37398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legal export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9472" y="3977640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custody week templates. One action moves an entire week - all cards, GCal, push to both partners. Direct answer to OFW Pain 3.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2 WEEKS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995160" y="71323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6583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RLS audit in Supabase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95160" y="149047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14356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Stripe PLN + EUR products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95160" y="226771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22128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10 founding users this week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95160" y="304495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9900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20 Polish mediators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95160" y="382219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37673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survey before product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4599432"/>
            <a:ext cx="146304" cy="146304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544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SEG-11.2 shared history (1 day)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decision that changes everything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914400"/>
            <a:ext cx="6217920" cy="1508760"/>
          </a:xfrm>
          <a:prstGeom prst="rect">
            <a:avLst/>
          </a:prstGeom>
          <a:solidFill>
            <a:srgbClr val="2A2A3E"/>
          </a:solidFill>
          <a:ln w="12700">
            <a:solidFill>
              <a:srgbClr val="2A2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914400"/>
            <a:ext cx="73152" cy="150876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98755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partner join rate is below 50%,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in this plan matters.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" y="19202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metric is downstream of two people both using the app.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51460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solve the partner join problem, distribution becomes easy.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people recommend the app from their own perspective.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not solve it, you can acquire 10,000 signups and end up with 200 active users.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6217920" cy="22860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do-do.app  |  Founders Meeting June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18288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A5F"/>
                </a:solidFill>
              </a:rP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</a:rPr>
              <a:t>The position </a:t>
            </a:r>
            <a:r>
              <a:rPr sz="2000" b="1" i="0">
                <a:solidFill>
                  <a:srgbClr val="0D9488"/>
                </a:solidFill>
              </a:rPr>
              <a:t>no competitor can replicate in a single move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8862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029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4416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Polish + German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18488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Native language from day 1. No English-only workaround.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234440"/>
            <a:ext cx="38862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234440"/>
            <a:ext cx="50292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344168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EU Hosting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618488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Zero GDPR risk. Data stays in Europe. Courts accept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9192"/>
            <a:ext cx="38862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79192"/>
            <a:ext cx="5029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78892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Family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063240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One subscription covers both parents. OFW charges each parent separately.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679192"/>
            <a:ext cx="38862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2679192"/>
            <a:ext cx="50292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278892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Context-aware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3063240"/>
            <a:ext cx="3703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AI knows the family history. Not generic ChatGPT - trained on co-parenting.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523744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64748B"/>
                </a:solidFill>
              </a:rPr>
              <a:t>No competitor holds all 4 simultaneously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8229600" cy="749808"/>
          </a:xfrm>
          <a:prstGeom prst="rect">
            <a:avLst/>
          </a:prstGeom>
          <a:solidFill>
            <a:srgbClr val="F0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50292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33087"/>
            <a:ext cx="79552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</a:rPr>
              <a:t>Unbeatable position:  </a:t>
            </a:r>
            <a:r>
              <a:rPr sz="1100" b="0" i="0">
                <a:solidFill>
                  <a:srgbClr val="1E293B"/>
                </a:solidFill>
              </a:rPr>
              <a:t>Newly separated Polish parents reach Do-Do through mediators at the exact moment they need help. No competitor serves this channel. Once family data is in, switching means losing it - natural lock-in.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Do-Do - Founders Meeting</dc:title>
  <dc:subject>PptxGenJS Presentation</dc:subject>
  <dc:creator>PptxGenJS</dc:creator>
  <cp:lastModifiedBy>PptxGenJS</cp:lastModifiedBy>
  <cp:revision>1</cp:revision>
  <dcterms:created xsi:type="dcterms:W3CDTF">2026-06-08T18:39:47Z</dcterms:created>
  <dcterms:modified xsi:type="dcterms:W3CDTF">2026-06-08T18:39:47Z</dcterms:modified>
</cp:coreProperties>
</file>