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2A2A3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49440" y="274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do-do.app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949440" y="4389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Founders Meeting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949440" y="46634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6217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DO-DO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alignment layer for shared lives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3090672"/>
            <a:ext cx="3200400" cy="22860"/>
          </a:xfrm>
          <a:prstGeom prst="rect">
            <a:avLst/>
          </a:prstGeom>
          <a:solidFill>
            <a:srgbClr val="3D405B"/>
          </a:solidFill>
          <a:ln w="12700">
            <a:solidFill>
              <a:srgbClr val="3D40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246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Not for distribution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01752"/>
            <a:ext cx="54864" cy="201168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07A5F"/>
                </a:solidFill>
              </a:rPr>
              <a:t>THE ORIGIN STORY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tried OurFamilyWizard. Three problems.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606040" cy="3063240"/>
          </a:xfrm>
          <a:prstGeom prst="rect">
            <a:avLst/>
          </a:prstGeom>
          <a:solidFill>
            <a:srgbClr val="2A2A3E"/>
          </a:solidFill>
          <a:ln w="12700">
            <a:solidFill>
              <a:srgbClr val="2A2A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828800"/>
            <a:ext cx="2606040" cy="54864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92024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94360" y="235915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separate modules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798064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Calendar, expenses, messages, tasks - all separate sections. Jump between them every time something changes. Things fall through the gaps. No single object holds the whole picture.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94360" y="3931920"/>
            <a:ext cx="2331720" cy="18288"/>
          </a:xfrm>
          <a:prstGeom prst="rect">
            <a:avLst/>
          </a:prstGeom>
          <a:solidFill>
            <a:srgbClr val="3D405B"/>
          </a:solidFill>
          <a:ln w="12700">
            <a:solidFill>
              <a:srgbClr val="3D40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4005072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1B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Do-Do answer: one card = event + expense + message thread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73552" y="1828800"/>
            <a:ext cx="2606040" cy="3063240"/>
          </a:xfrm>
          <a:prstGeom prst="rect">
            <a:avLst/>
          </a:prstGeom>
          <a:solidFill>
            <a:srgbClr val="2A2A3E"/>
          </a:solidFill>
          <a:ln w="12700">
            <a:solidFill>
              <a:srgbClr val="2A2A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73552" y="1828800"/>
            <a:ext cx="2606040" cy="54864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73552" y="192024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410712" y="235915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 calendar sync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10712" y="2798064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OFW has its own calendar that doesn't connect to Google or iCloud. Every event entered twice. When something changes, one place gets updated and the other doesn't.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410712" y="3931920"/>
            <a:ext cx="2331720" cy="18288"/>
          </a:xfrm>
          <a:prstGeom prst="rect">
            <a:avLst/>
          </a:prstGeom>
          <a:solidFill>
            <a:srgbClr val="3D405B"/>
          </a:solidFill>
          <a:ln w="12700">
            <a:solidFill>
              <a:srgbClr val="3D405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10712" y="4005072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1B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Do-Do answer: bi-directional Google + Apple sync, built from day one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089904" y="1828800"/>
            <a:ext cx="2606040" cy="3063240"/>
          </a:xfrm>
          <a:prstGeom prst="rect">
            <a:avLst/>
          </a:prstGeom>
          <a:solidFill>
            <a:srgbClr val="2A2A3E"/>
          </a:solidFill>
          <a:ln w="12700">
            <a:solidFill>
              <a:srgbClr val="2A2A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89904" y="1828800"/>
            <a:ext cx="2606040" cy="54864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89904" y="192024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227064" y="235915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updates when a week changes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27064" y="2798064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custody week shifts - holiday, illness, new agreement - every card requires a manual update. No cascade. No 'move Week A' action. Go through each event one by one.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227064" y="3931920"/>
            <a:ext cx="2331720" cy="18288"/>
          </a:xfrm>
          <a:prstGeom prst="rect">
            <a:avLst/>
          </a:prstGeom>
          <a:solidFill>
            <a:srgbClr val="3D405B"/>
          </a:solidFill>
          <a:ln w="12700">
            <a:solidFill>
              <a:srgbClr val="3D405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27064" y="4005072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1B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Do-Do answer: schedule cascade - one action moves the whole week (SEG-11)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"So I built what I actually wanted."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54864" cy="182880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4688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07A5F"/>
                </a:solidFill>
              </a:rPr>
              <a:t>THE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 failure is a trust problem, not a productivity one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8229600" cy="22860"/>
          </a:xfrm>
          <a:prstGeom prst="rect">
            <a:avLst/>
          </a:prstGeom>
          <a:solidFill>
            <a:srgbClr val="EDEAE4"/>
          </a:solidFill>
          <a:ln w="12700">
            <a:solidFill>
              <a:srgbClr val="EDEA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070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pain happens in moments - not in abstract disorganization.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572768"/>
            <a:ext cx="26974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572768"/>
            <a:ext cx="54864" cy="3383280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70078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disputed pickup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029968"/>
            <a:ext cx="2423160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parent says they told the other. The other says they never did. The child stands outside school. Not a scheduling failure - a trust breakdown that takes weeks to repair.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91840" y="1572768"/>
            <a:ext cx="26974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572768"/>
            <a:ext cx="54864" cy="3383280"/>
          </a:xfrm>
          <a:prstGeom prst="rect">
            <a:avLst/>
          </a:prstGeom>
          <a:solidFill>
            <a:srgbClr val="3D405B"/>
          </a:solidFill>
          <a:ln w="12700">
            <a:solidFill>
              <a:srgbClr val="3D40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0" y="170078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invoice without a trail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74720" y="2029968"/>
            <a:ext cx="2423160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Separated parents are legally required to split extraordinary costs. No shared record means every invoice becomes an argument. Do-Do's expense tracking is evidence management.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26480" y="1572768"/>
            <a:ext cx="26974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572768"/>
            <a:ext cx="54864" cy="3383280"/>
          </a:xfrm>
          <a:prstGeom prst="rect">
            <a:avLst/>
          </a:prstGeom>
          <a:solidFill>
            <a:srgbClr val="81B29A"/>
          </a:solidFill>
          <a:ln w="12700">
            <a:solidFill>
              <a:srgbClr val="81B2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170078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invisible mental load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09360" y="2029968"/>
            <a:ext cx="2423160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partner holds everything: schedules, appointments, groceries. The other partner literally cannot see the problem. The resentment is diffuse and chronic.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54864" cy="182880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4688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07A5F"/>
                </a:solidFill>
              </a:rPr>
              <a:t>TARGET SEGMENTS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feels this - and how much they will pay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8229600" cy="22860"/>
          </a:xfrm>
          <a:prstGeom prst="rect">
            <a:avLst/>
          </a:prstGeom>
          <a:solidFill>
            <a:srgbClr val="EDEAE4"/>
          </a:solidFill>
          <a:ln w="12700">
            <a:solidFill>
              <a:srgbClr val="EDEA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43584"/>
            <a:ext cx="82296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43584"/>
            <a:ext cx="54864" cy="768096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31673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Separated / divorced parents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" y="1645920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obligation to track costs. Coordination failure has real consequences. Highest urgency.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223760" y="1408176"/>
            <a:ext cx="1325880" cy="420624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23760" y="1408176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WTP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7200" y="2157984"/>
            <a:ext cx="82296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157984"/>
            <a:ext cx="54864" cy="768096"/>
          </a:xfrm>
          <a:prstGeom prst="rect">
            <a:avLst/>
          </a:prstGeom>
          <a:solidFill>
            <a:srgbClr val="3D405B"/>
          </a:solidFill>
          <a:ln w="12700">
            <a:solidFill>
              <a:srgbClr val="3D405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223113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Couples still together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8368" y="2560320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load imbalance creates chronic resentment. Do-Do makes the invisible visible to both partners.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223760" y="2322576"/>
            <a:ext cx="1325880" cy="420624"/>
          </a:xfrm>
          <a:prstGeom prst="rect">
            <a:avLst/>
          </a:prstGeom>
          <a:solidFill>
            <a:srgbClr val="81B29A"/>
          </a:solidFill>
          <a:ln w="12700">
            <a:solidFill>
              <a:srgbClr val="81B2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23760" y="2322576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WTP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7200" y="3072384"/>
            <a:ext cx="82296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072384"/>
            <a:ext cx="54864" cy="768096"/>
          </a:xfrm>
          <a:prstGeom prst="rect">
            <a:avLst/>
          </a:prstGeom>
          <a:solidFill>
            <a:srgbClr val="81B29A"/>
          </a:solidFill>
          <a:ln w="12700">
            <a:solidFill>
              <a:srgbClr val="81B2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314553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Siblings coordinating elderly parent care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8368" y="3474720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took them to the doctor? Who ordered meds? Underserved, stressed, willing to pay for peace.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223760" y="3236976"/>
            <a:ext cx="1325880" cy="420624"/>
          </a:xfrm>
          <a:prstGeom prst="rect">
            <a:avLst/>
          </a:prstGeom>
          <a:solidFill>
            <a:srgbClr val="81B29A"/>
          </a:solidFill>
          <a:ln w="12700">
            <a:solidFill>
              <a:srgbClr val="81B2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23760" y="3236976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WTP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7200" y="3986784"/>
            <a:ext cx="82296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986784"/>
            <a:ext cx="54864" cy="768096"/>
          </a:xfrm>
          <a:prstGeom prst="rect">
            <a:avLst/>
          </a:prstGeom>
          <a:solidFill>
            <a:srgbClr val="8B8FA8"/>
          </a:solidFill>
          <a:ln w="12700">
            <a:solidFill>
              <a:srgbClr val="8B8F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" y="405993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Flatmates / housemates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58368" y="4389120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Splitwise already owns this segment. Do not build for or market to flatmates.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223760" y="4151376"/>
            <a:ext cx="1325880" cy="420624"/>
          </a:xfrm>
          <a:prstGeom prst="rect">
            <a:avLst/>
          </a:prstGeom>
          <a:solidFill>
            <a:srgbClr val="8B8FA8"/>
          </a:solidFill>
          <a:ln w="12700">
            <a:solidFill>
              <a:srgbClr val="8B8FA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23760" y="4151376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WTP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01752"/>
            <a:ext cx="54864" cy="201168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07A5F"/>
                </a:solidFill>
              </a:rPr>
              <a:t>MARKET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 - before couples and caregivers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5727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Divorce/separation only. Multiply TAM 4-6x when all segments included.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920240"/>
            <a:ext cx="2578608" cy="2834640"/>
          </a:xfrm>
          <a:prstGeom prst="rect">
            <a:avLst/>
          </a:prstGeom>
          <a:solidFill>
            <a:srgbClr val="2A2A3E"/>
          </a:solidFill>
          <a:ln w="12700">
            <a:solidFill>
              <a:srgbClr val="2A2A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920240"/>
            <a:ext cx="2578608" cy="54864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029968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  Poland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2377440"/>
            <a:ext cx="2578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65,000+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30936" y="3072384"/>
            <a:ext cx="2322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separations / divorces per year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31520" y="3456432"/>
            <a:ext cx="2121408" cy="22860"/>
          </a:xfrm>
          <a:prstGeom prst="rect">
            <a:avLst/>
          </a:prstGeom>
          <a:solidFill>
            <a:srgbClr val="3D405B"/>
          </a:solidFill>
          <a:ln w="12700">
            <a:solidFill>
              <a:srgbClr val="3D405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3520440"/>
            <a:ext cx="2212848" cy="256032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520440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MARKET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30936" y="3840480"/>
            <a:ext cx="2322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divorce rate, large population, low existing digital solutions.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319272" y="1920240"/>
            <a:ext cx="2578608" cy="2834640"/>
          </a:xfrm>
          <a:prstGeom prst="rect">
            <a:avLst/>
          </a:prstGeom>
          <a:solidFill>
            <a:srgbClr val="2A2A3E"/>
          </a:solidFill>
          <a:ln w="12700">
            <a:solidFill>
              <a:srgbClr val="2A2A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19272" y="1920240"/>
            <a:ext cx="2578608" cy="54864"/>
          </a:xfrm>
          <a:prstGeom prst="rect">
            <a:avLst/>
          </a:prstGeom>
          <a:solidFill>
            <a:srgbClr val="81B29A"/>
          </a:solidFill>
          <a:ln w="12700">
            <a:solidFill>
              <a:srgbClr val="81B2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19272" y="2029968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 Germany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19272" y="2377440"/>
            <a:ext cx="2578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1B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140,000+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3447288" y="3072384"/>
            <a:ext cx="2322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divorces per year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547872" y="3456432"/>
            <a:ext cx="2121408" cy="22860"/>
          </a:xfrm>
          <a:prstGeom prst="rect">
            <a:avLst/>
          </a:prstGeom>
          <a:solidFill>
            <a:srgbClr val="3D405B"/>
          </a:solidFill>
          <a:ln w="12700">
            <a:solidFill>
              <a:srgbClr val="3D405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02152" y="3520440"/>
            <a:ext cx="2212848" cy="256032"/>
          </a:xfrm>
          <a:prstGeom prst="rect">
            <a:avLst/>
          </a:prstGeom>
          <a:solidFill>
            <a:srgbClr val="81B29A"/>
          </a:solidFill>
          <a:ln w="12700">
            <a:solidFill>
              <a:srgbClr val="81B2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02152" y="3520440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EXPANSION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447288" y="3840480"/>
            <a:ext cx="2322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volume in EU. Terrible existing tools. High willingness to pay.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135624" y="1920240"/>
            <a:ext cx="2578608" cy="2834640"/>
          </a:xfrm>
          <a:prstGeom prst="rect">
            <a:avLst/>
          </a:prstGeom>
          <a:solidFill>
            <a:srgbClr val="2A2A3E"/>
          </a:solidFill>
          <a:ln w="12700">
            <a:solidFill>
              <a:srgbClr val="2A2A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35624" y="1920240"/>
            <a:ext cx="2578608" cy="54864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35624" y="2029968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 Switzerland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135624" y="2377440"/>
            <a:ext cx="2578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17,000+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6263640" y="3072384"/>
            <a:ext cx="2322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divorces per year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364224" y="3456432"/>
            <a:ext cx="2121408" cy="22860"/>
          </a:xfrm>
          <a:prstGeom prst="rect">
            <a:avLst/>
          </a:prstGeom>
          <a:solidFill>
            <a:srgbClr val="3D405B"/>
          </a:solidFill>
          <a:ln w="12700">
            <a:solidFill>
              <a:srgbClr val="3D405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18504" y="3520440"/>
            <a:ext cx="2212848" cy="256032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18504" y="3520440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MARKET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63640" y="3840480"/>
            <a:ext cx="2322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population, highest income in Europe, very high LTV per user.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54864" cy="182880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24688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07A5F"/>
                </a:solidFill>
              </a:rPr>
              <a:t>PRODUCT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modules - one shared space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8229600" cy="22860"/>
          </a:xfrm>
          <a:prstGeom prst="rect">
            <a:avLst/>
          </a:prstGeom>
          <a:solidFill>
            <a:srgbClr val="EDEAE4"/>
          </a:solidFill>
          <a:ln w="12700">
            <a:solidFill>
              <a:srgbClr val="EDEAE4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1261872"/>
            <a:ext cx="269748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1261872"/>
            <a:ext cx="2697480" cy="45720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21792" y="1371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Board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1792" y="1719072"/>
            <a:ext cx="23774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for tasks, events, requests, expenses. Both people see everything in real time. AI-powered entry.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91840" y="1261872"/>
            <a:ext cx="269748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291840" y="1261872"/>
            <a:ext cx="2697480" cy="45720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456432" y="1371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Card Entry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56432" y="1719072"/>
            <a:ext cx="23774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naturally. Claude Haiku extracts date, type, assignee, reminder. No forms to fill.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26480" y="1261872"/>
            <a:ext cx="269748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126480" y="1261872"/>
            <a:ext cx="2697480" cy="45720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291072" y="1371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91072" y="1719072"/>
            <a:ext cx="23774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Time-grid view with hour-snap drag. Recurring events on all their days. Import any Google Calendar. Bi-directional sync. Conflicts flagged with AI.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090672"/>
            <a:ext cx="269748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457200" y="3090672"/>
            <a:ext cx="2697480" cy="45720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21792" y="3200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Tracking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1792" y="3547872"/>
            <a:ext cx="23774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costs, upload receipts, request payment via Stripe. Running balance always visible. Apple/Google Pay.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91840" y="3090672"/>
            <a:ext cx="269748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3291840" y="3090672"/>
            <a:ext cx="2697480" cy="45720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3456432" y="3200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Reminders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56432" y="3547872"/>
            <a:ext cx="23774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routing - reminders reach the right person. Quiet hours respected. App-only or calendar-linked delivery. Email + web push.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126480" y="3090672"/>
            <a:ext cx="269748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6126480" y="3090672"/>
            <a:ext cx="2697480" cy="45720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291072" y="3200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291072" y="3547872"/>
            <a:ext cx="23774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of cards with real messages, sorted by latest activity. Context stays with the card. Real-time sync.</a:t>
            </a:r>
            <a:endParaRPr lang="en-US" sz="1050" dirty="0"/>
          </a:p>
        </p:txBody>
      </p:sp>
      <p:sp>
        <p:nvSpPr>
          <p:cNvPr id="30" name="TextBox 29"/>
          <p:cNvSpPr txBox="1"/>
          <p:nvPr/>
        </p:nvSpPr>
        <p:spPr>
          <a:xfrm>
            <a:off x="457200" y="4695825"/>
            <a:ext cx="8229600" cy="381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888888"/>
                </a:solidFill>
              </a:rPr>
              <a:t>Also live: Shopping List (real-time sync)  ·  Custody Calendar (7-7 / 2-2-3 / 5-2 templates)  ·  PWA offline sync  ·  GDPR export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54864" cy="182880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4688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07A5F"/>
                </a:solidFill>
              </a:rPr>
              <a:t>COMPETITION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OurFamilyWizard is the market leader. These are its exact failures.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8229600" cy="22860"/>
          </a:xfrm>
          <a:prstGeom prst="rect">
            <a:avLst/>
          </a:prstGeom>
          <a:solidFill>
            <a:srgbClr val="EDEAE4"/>
          </a:solidFill>
          <a:ln w="12700">
            <a:solidFill>
              <a:srgbClr val="EDEA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618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OurFamilyWizard  - used by the founder, three documented failures: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572768"/>
            <a:ext cx="2606040" cy="1115568"/>
          </a:xfrm>
          <a:prstGeom prst="rect">
            <a:avLst/>
          </a:prstGeom>
          <a:solidFill>
            <a:srgbClr val="FFF5F5"/>
          </a:solidFill>
          <a:ln w="12700">
            <a:solidFill>
              <a:srgbClr val="F5C0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572768"/>
            <a:ext cx="2606040" cy="45720"/>
          </a:xfrm>
          <a:prstGeom prst="rect">
            <a:avLst/>
          </a:prstGeom>
          <a:solidFill>
            <a:srgbClr val="E05050"/>
          </a:solidFill>
          <a:ln w="12700">
            <a:solidFill>
              <a:srgbClr val="E050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6642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modules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94360" y="1975104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Calendar, expenses, messages, tasks are separate sections. No unified view of a single situation.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73552" y="1572768"/>
            <a:ext cx="2606040" cy="1115568"/>
          </a:xfrm>
          <a:prstGeom prst="rect">
            <a:avLst/>
          </a:prstGeom>
          <a:solidFill>
            <a:srgbClr val="FFF5F5"/>
          </a:solidFill>
          <a:ln w="12700">
            <a:solidFill>
              <a:srgbClr val="F5C0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73552" y="1572768"/>
            <a:ext cx="2606040" cy="45720"/>
          </a:xfrm>
          <a:prstGeom prst="rect">
            <a:avLst/>
          </a:prstGeom>
          <a:solidFill>
            <a:srgbClr val="E05050"/>
          </a:solidFill>
          <a:ln w="12700">
            <a:solidFill>
              <a:srgbClr val="E050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10712" y="16642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 calendar sync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410712" y="1975104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OFW calendar is isolated from Google and iCloud. Every event entered twice. Double updates when anything changes.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89904" y="1572768"/>
            <a:ext cx="2606040" cy="1115568"/>
          </a:xfrm>
          <a:prstGeom prst="rect">
            <a:avLst/>
          </a:prstGeom>
          <a:solidFill>
            <a:srgbClr val="FFF5F5"/>
          </a:solidFill>
          <a:ln w="12700">
            <a:solidFill>
              <a:srgbClr val="F5C0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9904" y="1572768"/>
            <a:ext cx="2606040" cy="45720"/>
          </a:xfrm>
          <a:prstGeom prst="rect">
            <a:avLst/>
          </a:prstGeom>
          <a:solidFill>
            <a:srgbClr val="E05050"/>
          </a:solidFill>
          <a:ln w="12700">
            <a:solidFill>
              <a:srgbClr val="E050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27064" y="16642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schedule cascade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227064" y="1975104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a custody week means manually updating every dependent event. No cascade action exists.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28163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tools: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108960"/>
            <a:ext cx="8229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108960"/>
            <a:ext cx="45720" cy="438912"/>
          </a:xfrm>
          <a:prstGeom prst="rect">
            <a:avLst/>
          </a:prstGeom>
          <a:solidFill>
            <a:srgbClr val="8B8FA8"/>
          </a:solidFill>
          <a:ln w="12700">
            <a:solidFill>
              <a:srgbClr val="8B8F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16382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/ Messenger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657600" y="316382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structure. No accountability. 'You never told me' still happens every time.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474720" y="3182112"/>
            <a:ext cx="18288" cy="292608"/>
          </a:xfrm>
          <a:prstGeom prst="rect">
            <a:avLst/>
          </a:prstGeom>
          <a:solidFill>
            <a:srgbClr val="EDEAE4"/>
          </a:solidFill>
          <a:ln w="12700">
            <a:solidFill>
              <a:srgbClr val="EDEAE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621024"/>
            <a:ext cx="8229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621024"/>
            <a:ext cx="45720" cy="438912"/>
          </a:xfrm>
          <a:prstGeom prst="rect">
            <a:avLst/>
          </a:prstGeom>
          <a:solidFill>
            <a:srgbClr val="8B8FA8"/>
          </a:solidFill>
          <a:ln w="12700">
            <a:solidFill>
              <a:srgbClr val="8B8F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367588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Calendar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657600" y="367588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only. No tasks, expenses, receipts, or dual-party push notifications.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474720" y="3694176"/>
            <a:ext cx="18288" cy="292608"/>
          </a:xfrm>
          <a:prstGeom prst="rect">
            <a:avLst/>
          </a:prstGeom>
          <a:solidFill>
            <a:srgbClr val="EDEAE4"/>
          </a:solidFill>
          <a:ln w="12700">
            <a:solidFill>
              <a:srgbClr val="EDEAE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4133088"/>
            <a:ext cx="8229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4133088"/>
            <a:ext cx="45720" cy="438912"/>
          </a:xfrm>
          <a:prstGeom prst="rect">
            <a:avLst/>
          </a:prstGeom>
          <a:solidFill>
            <a:srgbClr val="8B8FA8"/>
          </a:solidFill>
          <a:ln w="12700">
            <a:solidFill>
              <a:srgbClr val="8B8FA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418795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Notes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3657600" y="4187952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One-sided. No dual-party notifications. No expense tracking. No evidence layer.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474720" y="4206240"/>
            <a:ext cx="18288" cy="292608"/>
          </a:xfrm>
          <a:prstGeom prst="rect">
            <a:avLst/>
          </a:prstGeom>
          <a:solidFill>
            <a:srgbClr val="EDEAE4"/>
          </a:solidFill>
          <a:ln w="12700">
            <a:solidFill>
              <a:srgbClr val="EDEAE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4663440"/>
            <a:ext cx="8229600" cy="310896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" y="4663440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Do-Do is a direct answer to OFW's three failures: unified card, real calendar sync, schedule cascade. Built by someone who hit those walls.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01752"/>
            <a:ext cx="54864" cy="201168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07A5F"/>
                </a:solidFill>
              </a:rPr>
              <a:t>PRICING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Per-market pricing at purchasing power parity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2578608" cy="2880360"/>
          </a:xfrm>
          <a:prstGeom prst="rect">
            <a:avLst/>
          </a:prstGeom>
          <a:solidFill>
            <a:srgbClr val="2A2A3E"/>
          </a:solidFill>
          <a:ln w="12700">
            <a:solidFill>
              <a:srgbClr val="2A2A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920240"/>
            <a:ext cx="2578608" cy="54864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029968"/>
            <a:ext cx="2578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[PL]  Poland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414016"/>
            <a:ext cx="2578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PLN 19 /mo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02920" y="2999232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PLN 169 /yr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58952" y="3364992"/>
            <a:ext cx="2066544" cy="22860"/>
          </a:xfrm>
          <a:prstGeom prst="rect">
            <a:avLst/>
          </a:prstGeom>
          <a:solidFill>
            <a:srgbClr val="3D405B"/>
          </a:solidFill>
          <a:ln w="12700">
            <a:solidFill>
              <a:srgbClr val="3D40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438144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approx. EUR 3.90 /mo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12648" y="3785616"/>
            <a:ext cx="2359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tier: 10 cards + 14-day trial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319272" y="1920240"/>
            <a:ext cx="2578608" cy="2880360"/>
          </a:xfrm>
          <a:prstGeom prst="rect">
            <a:avLst/>
          </a:prstGeom>
          <a:solidFill>
            <a:srgbClr val="2A2A3E"/>
          </a:solidFill>
          <a:ln w="12700">
            <a:solidFill>
              <a:srgbClr val="2A2A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19272" y="1920240"/>
            <a:ext cx="2578608" cy="54864"/>
          </a:xfrm>
          <a:prstGeom prst="rect">
            <a:avLst/>
          </a:prstGeom>
          <a:solidFill>
            <a:srgbClr val="81B29A"/>
          </a:solidFill>
          <a:ln w="12700">
            <a:solidFill>
              <a:srgbClr val="81B2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19272" y="2029968"/>
            <a:ext cx="2578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[DE]  Germany / Austria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19272" y="2414016"/>
            <a:ext cx="2578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1B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 7.90 /mo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319272" y="2999232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 69 /yr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575304" y="3364992"/>
            <a:ext cx="2066544" cy="22860"/>
          </a:xfrm>
          <a:prstGeom prst="rect">
            <a:avLst/>
          </a:prstGeom>
          <a:solidFill>
            <a:srgbClr val="3D405B"/>
          </a:solidFill>
          <a:ln w="12700">
            <a:solidFill>
              <a:srgbClr val="3D405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19272" y="3438144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approx. CHF 8.60 /mo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29000" y="3785616"/>
            <a:ext cx="2359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tier: 10 cards + 14-day trial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135624" y="1920240"/>
            <a:ext cx="2578608" cy="2880360"/>
          </a:xfrm>
          <a:prstGeom prst="rect">
            <a:avLst/>
          </a:prstGeom>
          <a:solidFill>
            <a:srgbClr val="2A2A3E"/>
          </a:solidFill>
          <a:ln w="12700">
            <a:solidFill>
              <a:srgbClr val="2A2A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35624" y="1920240"/>
            <a:ext cx="2578608" cy="54864"/>
          </a:xfrm>
          <a:prstGeom prst="rect">
            <a:avLst/>
          </a:prstGeom>
          <a:solidFill>
            <a:srgbClr val="81B29A"/>
          </a:solidFill>
          <a:ln w="12700">
            <a:solidFill>
              <a:srgbClr val="81B2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35624" y="2029968"/>
            <a:ext cx="2578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[CH]  Switzerland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135624" y="2414016"/>
            <a:ext cx="2578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1B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CHF 9.90 /mo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135624" y="2999232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CHF 89 /yr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391656" y="3364992"/>
            <a:ext cx="2066544" cy="22860"/>
          </a:xfrm>
          <a:prstGeom prst="rect">
            <a:avLst/>
          </a:prstGeom>
          <a:solidFill>
            <a:srgbClr val="3D405B"/>
          </a:solidFill>
          <a:ln w="12700">
            <a:solidFill>
              <a:srgbClr val="3D405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35624" y="3438144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income market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45352" y="3785616"/>
            <a:ext cx="2359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tier: 10 cards + 14-day trial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57200" y="48646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detection: de-CH/fr-CH -&gt; CHF  |  pl -&gt; PLN  |  de/de-DE -&gt; EUR  |  All others -&gt; CHF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01752"/>
            <a:ext cx="54864" cy="201168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07A5F"/>
                </a:solidFill>
              </a:rPr>
              <a:t>UNIT ECONOMICS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 work at a surprisingly small scale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3108960" cy="2834640"/>
          </a:xfrm>
          <a:prstGeom prst="rect">
            <a:avLst/>
          </a:prstGeom>
          <a:solidFill>
            <a:srgbClr val="2A2A3E"/>
          </a:solidFill>
          <a:ln w="12700">
            <a:solidFill>
              <a:srgbClr val="2A2A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21031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infrastructure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58368" y="248716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Pro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423160" y="2487168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CHF 18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58368" y="28712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Pro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423160" y="2871216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CHF 23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58368" y="325526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Resend email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423160" y="325526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CHF 18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58368" y="363931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API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423160" y="363931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CHF 20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58368" y="402336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423160" y="402336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CHF 50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4360" y="4352544"/>
            <a:ext cx="2834640" cy="22860"/>
          </a:xfrm>
          <a:prstGeom prst="rect">
            <a:avLst/>
          </a:prstGeom>
          <a:solidFill>
            <a:srgbClr val="3D405B"/>
          </a:solidFill>
          <a:ln w="12700">
            <a:solidFill>
              <a:srgbClr val="3D405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440740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fixed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423160" y="4407408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CHF ~134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749040" y="2011680"/>
            <a:ext cx="2377440" cy="1371600"/>
          </a:xfrm>
          <a:prstGeom prst="rect">
            <a:avLst/>
          </a:prstGeom>
          <a:solidFill>
            <a:srgbClr val="2A2A3E"/>
          </a:solidFill>
          <a:ln w="12700">
            <a:solidFill>
              <a:srgbClr val="2A2A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749040" y="21031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1B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revenue / pair / mo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749040" y="23957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1B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CHF 8.77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3749040" y="29260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Stripe fees (blended 65/35)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400800" y="2011680"/>
            <a:ext cx="2560320" cy="612648"/>
          </a:xfrm>
          <a:prstGeom prst="rect">
            <a:avLst/>
          </a:prstGeom>
          <a:solidFill>
            <a:srgbClr val="2A2A3E"/>
          </a:solidFill>
          <a:ln w="12700">
            <a:solidFill>
              <a:srgbClr val="2A2A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92240" y="204825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492240" y="23134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~16 pairs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400800" y="2724912"/>
            <a:ext cx="2560320" cy="612648"/>
          </a:xfrm>
          <a:prstGeom prst="rect">
            <a:avLst/>
          </a:prstGeom>
          <a:solidFill>
            <a:srgbClr val="2A2A3E"/>
          </a:solidFill>
          <a:ln w="12700">
            <a:solidFill>
              <a:srgbClr val="2A2A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492240" y="276148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CHF 2k after tax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492240" y="30266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1B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~340 pairs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400800" y="3438144"/>
            <a:ext cx="2560320" cy="612648"/>
          </a:xfrm>
          <a:prstGeom prst="rect">
            <a:avLst/>
          </a:prstGeom>
          <a:solidFill>
            <a:srgbClr val="2A2A3E"/>
          </a:solidFill>
          <a:ln w="12700">
            <a:solidFill>
              <a:srgbClr val="2A2A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492240" y="347472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CHF 5k after tax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492240" y="37398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1B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~850 pairs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400800" y="4151376"/>
            <a:ext cx="2560320" cy="612648"/>
          </a:xfrm>
          <a:prstGeom prst="rect">
            <a:avLst/>
          </a:prstGeom>
          <a:solidFill>
            <a:srgbClr val="2A2A3E"/>
          </a:solidFill>
          <a:ln w="12700">
            <a:solidFill>
              <a:srgbClr val="2A2A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492240" y="418795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CHF 10k after tax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492240" y="44531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~1,650 pairs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57200" y="48646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30% effective Swiss tax rate (federal + cantonal + AHV). Stripe EU rate: 1.4% + CHF 0.25 per transaction.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54864" cy="182880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4688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07A5F"/>
                </a:solidFill>
              </a:rPr>
              <a:t>DISTRIBUTION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 ordered by expected yield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8229600" cy="22860"/>
          </a:xfrm>
          <a:prstGeom prst="rect">
            <a:avLst/>
          </a:prstGeom>
          <a:solidFill>
            <a:srgbClr val="EDEAE4"/>
          </a:solidFill>
          <a:ln w="12700">
            <a:solidFill>
              <a:srgbClr val="EDEA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43584"/>
            <a:ext cx="82296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43584"/>
            <a:ext cx="54864" cy="768096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243584"/>
            <a:ext cx="411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51560" y="13075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mediators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80560" y="1335024"/>
            <a:ext cx="1417320" cy="210312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1335024"/>
            <a:ext cx="1417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YIELD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051560" y="1645920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mediator sees 20-50 active cases per month. One referral partner is a steady pipeline at peak pain. Offer 6 free months to any client in active mediation.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157984"/>
            <a:ext cx="82296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157984"/>
            <a:ext cx="54864" cy="768096"/>
          </a:xfrm>
          <a:prstGeom prst="rect">
            <a:avLst/>
          </a:prstGeom>
          <a:solidFill>
            <a:srgbClr val="3D405B"/>
          </a:solidFill>
          <a:ln w="12700">
            <a:solidFill>
              <a:srgbClr val="3D405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157984"/>
            <a:ext cx="411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051560" y="22219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 Facebook parent groups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480560" y="2249424"/>
            <a:ext cx="1417320" cy="210312"/>
          </a:xfrm>
          <a:prstGeom prst="rect">
            <a:avLst/>
          </a:prstGeom>
          <a:solidFill>
            <a:srgbClr val="3D405B"/>
          </a:solidFill>
          <a:ln w="12700">
            <a:solidFill>
              <a:srgbClr val="3D405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80560" y="2249424"/>
            <a:ext cx="1417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REACH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1051560" y="2560320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thousands of members. Post founder story, not product pitch. "I built this because I needed it" gets 10x more engagement than an ad.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072384"/>
            <a:ext cx="82296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072384"/>
            <a:ext cx="54864" cy="768096"/>
          </a:xfrm>
          <a:prstGeom prst="rect">
            <a:avLst/>
          </a:prstGeom>
          <a:solidFill>
            <a:srgbClr val="81B29A"/>
          </a:solidFill>
          <a:ln w="12700">
            <a:solidFill>
              <a:srgbClr val="81B2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072384"/>
            <a:ext cx="411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1B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051560" y="31363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parent WhatsApp / Messenger groups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480560" y="3163824"/>
            <a:ext cx="1417320" cy="210312"/>
          </a:xfrm>
          <a:prstGeom prst="rect">
            <a:avLst/>
          </a:prstGeom>
          <a:solidFill>
            <a:srgbClr val="81B29A"/>
          </a:solidFill>
          <a:ln w="12700">
            <a:solidFill>
              <a:srgbClr val="81B2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80560" y="3163824"/>
            <a:ext cx="1417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OF MOUTH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1051560" y="3474720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active parent in a 25-child class is a referral to 25 pairs. Ask each founding user to mention it in their class group.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" y="3986784"/>
            <a:ext cx="82296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" y="3986784"/>
            <a:ext cx="54864" cy="768096"/>
          </a:xfrm>
          <a:prstGeom prst="rect">
            <a:avLst/>
          </a:prstGeom>
          <a:solidFill>
            <a:srgbClr val="8B8FA8"/>
          </a:solidFill>
          <a:ln w="12700">
            <a:solidFill>
              <a:srgbClr val="8B8FA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3986784"/>
            <a:ext cx="411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1051560" y="40507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Wykop.pl / Reddit Poland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480560" y="4078224"/>
            <a:ext cx="1417320" cy="210312"/>
          </a:xfrm>
          <a:prstGeom prst="rect">
            <a:avLst/>
          </a:prstGeom>
          <a:solidFill>
            <a:srgbClr val="8B8FA8"/>
          </a:solidFill>
          <a:ln w="12700">
            <a:solidFill>
              <a:srgbClr val="8B8FA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80560" y="4078224"/>
            <a:ext cx="1417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AUDIENCE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1051560" y="4389120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 founder post in Polish. The platform rewards genuine stories over product pitches. Lower ceiling, higher-quality users.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01752"/>
            <a:ext cx="54864" cy="201168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07A5F"/>
                </a:solidFill>
              </a:rPr>
              <a:t>UNCONVENTIONAL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most apps would not think of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4160520" cy="960120"/>
          </a:xfrm>
          <a:prstGeom prst="rect">
            <a:avLst/>
          </a:prstGeom>
          <a:solidFill>
            <a:srgbClr val="2A2A3E"/>
          </a:solidFill>
          <a:ln w="12700">
            <a:solidFill>
              <a:srgbClr val="2A2A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828800"/>
            <a:ext cx="54864" cy="960120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901952"/>
            <a:ext cx="3904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with a survey, not a product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21792" y="2231136"/>
            <a:ext cx="3904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questions in Polish parent groups before mentioning Do-Do. Survey gets shared. You collect 500 responses and a warm list primed for the solution.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800600" y="1828800"/>
            <a:ext cx="4160520" cy="960120"/>
          </a:xfrm>
          <a:prstGeom prst="rect">
            <a:avLst/>
          </a:prstGeom>
          <a:solidFill>
            <a:srgbClr val="2A2A3E"/>
          </a:solidFill>
          <a:ln w="12700">
            <a:solidFill>
              <a:srgbClr val="2A2A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828800"/>
            <a:ext cx="54864" cy="960120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65192" y="1901952"/>
            <a:ext cx="3904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it as conflict insurance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965192" y="2231136"/>
            <a:ext cx="3904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"PLN 19/month to end the 'you never told me' argument." Insurance framing converts 2-3x better than productivity framing for high-stakes personal problems.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4160520" cy="960120"/>
          </a:xfrm>
          <a:prstGeom prst="rect">
            <a:avLst/>
          </a:prstGeom>
          <a:solidFill>
            <a:srgbClr val="2A2A3E"/>
          </a:solidFill>
          <a:ln w="12700">
            <a:solidFill>
              <a:srgbClr val="2A2A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926080"/>
            <a:ext cx="54864" cy="960120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2999232"/>
            <a:ext cx="3904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Court-ordered mediation pipeline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21792" y="3328416"/>
            <a:ext cx="3904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 courts mandate mediation before divorce. One relationship with a court mediator network is a steady pipeline at exactly the moment users need Do-Do most.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00600" y="2926080"/>
            <a:ext cx="4160520" cy="960120"/>
          </a:xfrm>
          <a:prstGeom prst="rect">
            <a:avLst/>
          </a:prstGeom>
          <a:solidFill>
            <a:srgbClr val="2A2A3E"/>
          </a:solidFill>
          <a:ln w="12700">
            <a:solidFill>
              <a:srgbClr val="2A2A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0600" y="2926080"/>
            <a:ext cx="54864" cy="960120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65192" y="2999232"/>
            <a:ext cx="3904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for active mediation clients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965192" y="3328416"/>
            <a:ext cx="3904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free months for pairs in mediation, verified by their mediator. They become case studies, their mediator becomes an advocate, and they are dependent on the tool when it ends.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4023360"/>
            <a:ext cx="4160520" cy="960120"/>
          </a:xfrm>
          <a:prstGeom prst="rect">
            <a:avLst/>
          </a:prstGeom>
          <a:solidFill>
            <a:srgbClr val="2A2A3E"/>
          </a:solidFill>
          <a:ln w="12700">
            <a:solidFill>
              <a:srgbClr val="2A2A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4023360"/>
            <a:ext cx="54864" cy="960120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4096512"/>
            <a:ext cx="3904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second-partner cold email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21792" y="4425696"/>
            <a:ext cx="3904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Partner B doesn't join after 3 days: "Only Bart can see what's on the shared list. You're missing context that affects you." FOMO, not obligation.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00600" y="4023360"/>
            <a:ext cx="4160520" cy="960120"/>
          </a:xfrm>
          <a:prstGeom prst="rect">
            <a:avLst/>
          </a:prstGeom>
          <a:solidFill>
            <a:srgbClr val="2A2A3E"/>
          </a:solidFill>
          <a:ln w="12700">
            <a:solidFill>
              <a:srgbClr val="2A2A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00600" y="4023360"/>
            <a:ext cx="54864" cy="960120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65192" y="4096512"/>
            <a:ext cx="3904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is the real launch window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965192" y="4425696"/>
            <a:ext cx="3904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starts, schedules change, costs spike, separated parents renegotiate. Every family coordination pain point peaks in September. Time the public launch for late August.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54864" cy="182880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4688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07A5F"/>
                </a:solidFill>
              </a:rPr>
              <a:t>VALIDATION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verify need before scaling spend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8229600" cy="22860"/>
          </a:xfrm>
          <a:prstGeom prst="rect">
            <a:avLst/>
          </a:prstGeom>
          <a:solidFill>
            <a:srgbClr val="EDEAE4"/>
          </a:solidFill>
          <a:ln w="12700">
            <a:solidFill>
              <a:srgbClr val="EDEA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070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metric that determines whether the pilot succeeds: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572768"/>
            <a:ext cx="8229600" cy="960120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572768"/>
            <a:ext cx="5669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join rate  &gt;60%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217920" y="1572768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50%: no other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matters at all.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651760"/>
            <a:ext cx="19202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27889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1B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&gt;70%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48640" y="34747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retention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931920"/>
            <a:ext cx="1554480" cy="22860"/>
          </a:xfrm>
          <a:prstGeom prst="rect">
            <a:avLst/>
          </a:prstGeom>
          <a:solidFill>
            <a:srgbClr val="EDEAE4"/>
          </a:solidFill>
          <a:ln w="12700">
            <a:solidFill>
              <a:srgbClr val="EDEA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005072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signal: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50% = wrong segment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560320" y="2651760"/>
            <a:ext cx="19202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560320" y="27889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1B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2651760" y="34747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reason #1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0" y="3931920"/>
            <a:ext cx="1554480" cy="22860"/>
          </a:xfrm>
          <a:prstGeom prst="rect">
            <a:avLst/>
          </a:prstGeom>
          <a:solidFill>
            <a:srgbClr val="EDEAE4"/>
          </a:solidFill>
          <a:ln w="12700">
            <a:solidFill>
              <a:srgbClr val="EDEA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51760" y="4005072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signal: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= more interviews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63440" y="2651760"/>
            <a:ext cx="19202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663440" y="27889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1B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pairs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4754880" y="34747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in 90 days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46320" y="3931920"/>
            <a:ext cx="1554480" cy="22860"/>
          </a:xfrm>
          <a:prstGeom prst="rect">
            <a:avLst/>
          </a:prstGeom>
          <a:solidFill>
            <a:srgbClr val="EDEAE4"/>
          </a:solidFill>
          <a:ln w="12700">
            <a:solidFill>
              <a:srgbClr val="EDEAE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4005072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signal: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20 at day 60 - stop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766560" y="2651760"/>
            <a:ext cx="19202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766560" y="27889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1B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&gt;40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858000" y="34747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score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949440" y="3931920"/>
            <a:ext cx="1554480" cy="22860"/>
          </a:xfrm>
          <a:prstGeom prst="rect">
            <a:avLst/>
          </a:prstGeom>
          <a:solidFill>
            <a:srgbClr val="EDEAE4"/>
          </a:solidFill>
          <a:ln w="12700">
            <a:solidFill>
              <a:srgbClr val="EDEAE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0" y="4005072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signal: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20 = no PMF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54864" cy="182880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4688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07A5F"/>
                </a:solidFill>
              </a:rPr>
              <a:t>MESSAGING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say - and what not to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8229600" cy="22860"/>
          </a:xfrm>
          <a:prstGeom prst="rect">
            <a:avLst/>
          </a:prstGeom>
          <a:solidFill>
            <a:srgbClr val="EDEAE4"/>
          </a:solidFill>
          <a:ln w="12700">
            <a:solidFill>
              <a:srgbClr val="EDEA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61872"/>
            <a:ext cx="3977640" cy="3657600"/>
          </a:xfrm>
          <a:prstGeom prst="rect">
            <a:avLst/>
          </a:prstGeom>
          <a:solidFill>
            <a:srgbClr val="FFF5F5"/>
          </a:solidFill>
          <a:ln w="12700">
            <a:solidFill>
              <a:srgbClr val="F5C0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61872"/>
            <a:ext cx="3977640" cy="329184"/>
          </a:xfrm>
          <a:prstGeom prst="rect">
            <a:avLst/>
          </a:prstGeom>
          <a:solidFill>
            <a:srgbClr val="E05050"/>
          </a:solidFill>
          <a:ln w="12700">
            <a:solidFill>
              <a:srgbClr val="E050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61872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SAY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719072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"Family coordination app for co-parents"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2313432"/>
            <a:ext cx="3566160" cy="10973"/>
          </a:xfrm>
          <a:prstGeom prst="rect">
            <a:avLst/>
          </a:prstGeom>
          <a:solidFill>
            <a:srgbClr val="F5C0C0"/>
          </a:solidFill>
          <a:ln w="12700">
            <a:solidFill>
              <a:srgbClr val="F5C0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450592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"For separated and divorced families"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044952"/>
            <a:ext cx="3566160" cy="10973"/>
          </a:xfrm>
          <a:prstGeom prst="rect">
            <a:avLst/>
          </a:prstGeom>
          <a:solidFill>
            <a:srgbClr val="F5C0C0"/>
          </a:solidFill>
          <a:ln w="12700">
            <a:solidFill>
              <a:srgbClr val="F5C0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182112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"Organize your co-parenting"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776472"/>
            <a:ext cx="3566160" cy="10973"/>
          </a:xfrm>
          <a:prstGeom prst="rect">
            <a:avLst/>
          </a:prstGeom>
          <a:solidFill>
            <a:srgbClr val="F5C0C0"/>
          </a:solidFill>
          <a:ln w="12700">
            <a:solidFill>
              <a:srgbClr val="F5C0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913632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app for divorced couples"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09160" y="1261872"/>
            <a:ext cx="39776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1261872"/>
            <a:ext cx="3977640" cy="329184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1261872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THIS INSTEAD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92040" y="1719072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"Your shared board for everything that matters"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892040" y="2313432"/>
            <a:ext cx="3566160" cy="10973"/>
          </a:xfrm>
          <a:prstGeom prst="rect">
            <a:avLst/>
          </a:prstGeom>
          <a:solidFill>
            <a:srgbClr val="EDEAE4"/>
          </a:solidFill>
          <a:ln w="12700">
            <a:solidFill>
              <a:srgbClr val="EDEA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2450592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"Two people. One place. Nothing falls through."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892040" y="3044952"/>
            <a:ext cx="3566160" cy="10973"/>
          </a:xfrm>
          <a:prstGeom prst="rect">
            <a:avLst/>
          </a:prstGeom>
          <a:solidFill>
            <a:srgbClr val="EDEAE4"/>
          </a:solidFill>
          <a:ln w="12700">
            <a:solidFill>
              <a:srgbClr val="EDEA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3182112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"PLN 19/month to end the 'you never told me'"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892040" y="3776472"/>
            <a:ext cx="3566160" cy="10973"/>
          </a:xfrm>
          <a:prstGeom prst="rect">
            <a:avLst/>
          </a:prstGeom>
          <a:solidFill>
            <a:srgbClr val="EDEAE4"/>
          </a:solidFill>
          <a:ln w="12700">
            <a:solidFill>
              <a:srgbClr val="EDEA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3913632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"For anyone running a shared life together"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01752"/>
            <a:ext cx="54864" cy="201168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07A5F"/>
                </a:solidFill>
              </a:rPr>
              <a:t>PILOT PLAN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Poland - 90 days to 50 paying pairs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2578608" cy="3017520"/>
          </a:xfrm>
          <a:prstGeom prst="rect">
            <a:avLst/>
          </a:prstGeom>
          <a:solidFill>
            <a:srgbClr val="2A2A3E"/>
          </a:solidFill>
          <a:ln w="12700">
            <a:solidFill>
              <a:srgbClr val="2A2A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920240"/>
            <a:ext cx="2578608" cy="54864"/>
          </a:xfrm>
          <a:prstGeom prst="rect">
            <a:avLst/>
          </a:prstGeom>
          <a:solidFill>
            <a:srgbClr val="8B8FA8"/>
          </a:solidFill>
          <a:ln w="12700">
            <a:solidFill>
              <a:srgbClr val="8B8F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029968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Pre-launch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359152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1-2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2651760"/>
            <a:ext cx="2212848" cy="22860"/>
          </a:xfrm>
          <a:prstGeom prst="rect">
            <a:avLst/>
          </a:prstGeom>
          <a:solidFill>
            <a:srgbClr val="3D405B"/>
          </a:solidFill>
          <a:ln w="12700">
            <a:solidFill>
              <a:srgbClr val="3D40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706624"/>
            <a:ext cx="2258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- 10 founding users via personal network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3255264"/>
            <a:ext cx="2258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Validate PLN price: test 19 vs 29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85800" y="3803904"/>
            <a:ext cx="2258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Polish privacy policy + UODO disclosure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85800" y="4352544"/>
            <a:ext cx="2258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BLIK payment end-to-end test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319272" y="1920240"/>
            <a:ext cx="2578608" cy="3017520"/>
          </a:xfrm>
          <a:prstGeom prst="rect">
            <a:avLst/>
          </a:prstGeom>
          <a:solidFill>
            <a:srgbClr val="2A2A3E"/>
          </a:solidFill>
          <a:ln w="12700">
            <a:solidFill>
              <a:srgbClr val="2A2A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19272" y="1920240"/>
            <a:ext cx="2578608" cy="54864"/>
          </a:xfrm>
          <a:prstGeom prst="rect">
            <a:avLst/>
          </a:prstGeom>
          <a:solidFill>
            <a:srgbClr val="81B29A"/>
          </a:solidFill>
          <a:ln w="12700">
            <a:solidFill>
              <a:srgbClr val="81B2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19272" y="2029968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launch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19272" y="2359152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1B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3-6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502152" y="2651760"/>
            <a:ext cx="2212848" cy="22860"/>
          </a:xfrm>
          <a:prstGeom prst="rect">
            <a:avLst/>
          </a:prstGeom>
          <a:solidFill>
            <a:srgbClr val="3D405B"/>
          </a:solidFill>
          <a:ln w="12700">
            <a:solidFill>
              <a:srgbClr val="3D405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02152" y="2706624"/>
            <a:ext cx="2258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Mediator outreach - 20 contacts, target 3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502152" y="3255264"/>
            <a:ext cx="2258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Founder story post - FB groups + Wykop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502152" y="3803904"/>
            <a:ext cx="2258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Ask founding users to share in school groups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502152" y="4352544"/>
            <a:ext cx="2258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Interview every churned user personally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35624" y="1920240"/>
            <a:ext cx="2578608" cy="3017520"/>
          </a:xfrm>
          <a:prstGeom prst="rect">
            <a:avLst/>
          </a:prstGeom>
          <a:solidFill>
            <a:srgbClr val="2A2A3E"/>
          </a:solidFill>
          <a:ln w="12700">
            <a:solidFill>
              <a:srgbClr val="2A2A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35624" y="1920240"/>
            <a:ext cx="2578608" cy="54864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35624" y="2029968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135624" y="2359152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7-12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318504" y="2651760"/>
            <a:ext cx="2212848" cy="22860"/>
          </a:xfrm>
          <a:prstGeom prst="rect">
            <a:avLst/>
          </a:prstGeom>
          <a:solidFill>
            <a:srgbClr val="3D405B"/>
          </a:solidFill>
          <a:ln w="12700">
            <a:solidFill>
              <a:srgbClr val="3D405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18504" y="2706624"/>
            <a:ext cx="2258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Double down on converting channel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318504" y="3255264"/>
            <a:ext cx="2258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Launch survey for next cohort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318504" y="3803904"/>
            <a:ext cx="2258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Prepare Germany if retention &gt;70%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318504" y="4352544"/>
            <a:ext cx="2258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App Store only after pilot proves model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54864" cy="182880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4688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07A5F"/>
                </a:solidFill>
              </a:rPr>
              <a:t>ROADMAP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sequence - do not rush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8229600" cy="22860"/>
          </a:xfrm>
          <a:prstGeom prst="rect">
            <a:avLst/>
          </a:prstGeom>
          <a:solidFill>
            <a:srgbClr val="EDEAE4"/>
          </a:solidFill>
          <a:ln w="12700">
            <a:solidFill>
              <a:srgbClr val="EDEA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2505456"/>
            <a:ext cx="8065008" cy="54864"/>
          </a:xfrm>
          <a:prstGeom prst="rect">
            <a:avLst/>
          </a:prstGeom>
          <a:solidFill>
            <a:srgbClr val="EDEAE4"/>
          </a:solidFill>
          <a:ln w="12700">
            <a:solidFill>
              <a:srgbClr val="EDEAE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61872"/>
            <a:ext cx="1572768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261872"/>
            <a:ext cx="1572768" cy="45720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371600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Poland pilot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30352" y="1719072"/>
            <a:ext cx="1426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- Sep 2026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115568" y="2414016"/>
            <a:ext cx="256032" cy="256032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788920"/>
            <a:ext cx="1572768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2880360"/>
            <a:ext cx="138988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paying pairs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&gt;70%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join &gt;60%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PLN pricing live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176272" y="1261872"/>
            <a:ext cx="1572768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176272" y="1261872"/>
            <a:ext cx="1572768" cy="45720"/>
          </a:xfrm>
          <a:prstGeom prst="rect">
            <a:avLst/>
          </a:prstGeom>
          <a:solidFill>
            <a:srgbClr val="81B29A"/>
          </a:solidFill>
          <a:ln w="12700">
            <a:solidFill>
              <a:srgbClr val="81B2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49424" y="1371600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249424" y="1719072"/>
            <a:ext cx="1426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1B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834640" y="2414016"/>
            <a:ext cx="256032" cy="256032"/>
          </a:xfrm>
          <a:prstGeom prst="ellipse">
            <a:avLst/>
          </a:prstGeom>
          <a:solidFill>
            <a:srgbClr val="81B29A"/>
          </a:solidFill>
          <a:ln w="12700">
            <a:solidFill>
              <a:srgbClr val="81B29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176272" y="2788920"/>
            <a:ext cx="1572768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267712" y="2880360"/>
            <a:ext cx="138988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 UI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 7.90/mo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DACH mediators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140k divorces/yr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895344" y="1261872"/>
            <a:ext cx="1572768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895344" y="1261872"/>
            <a:ext cx="1572768" cy="45720"/>
          </a:xfrm>
          <a:prstGeom prst="rect">
            <a:avLst/>
          </a:prstGeom>
          <a:solidFill>
            <a:srgbClr val="3D405B"/>
          </a:solidFill>
          <a:ln w="12700">
            <a:solidFill>
              <a:srgbClr val="3D405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68496" y="1371600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Store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968496" y="1719072"/>
            <a:ext cx="1426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53712" y="2414016"/>
            <a:ext cx="256032" cy="256032"/>
          </a:xfrm>
          <a:prstGeom prst="ellipse">
            <a:avLst/>
          </a:prstGeom>
          <a:solidFill>
            <a:srgbClr val="3D405B"/>
          </a:solidFill>
          <a:ln w="12700">
            <a:solidFill>
              <a:srgbClr val="3D405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95344" y="2788920"/>
            <a:ext cx="1572768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986784" y="2880360"/>
            <a:ext cx="138988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+ Android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discovery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 per market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Capacitor wrapper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614416" y="1261872"/>
            <a:ext cx="1572768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614416" y="1261872"/>
            <a:ext cx="1572768" cy="45720"/>
          </a:xfrm>
          <a:prstGeom prst="rect">
            <a:avLst/>
          </a:prstGeom>
          <a:solidFill>
            <a:srgbClr val="3D405B"/>
          </a:solidFill>
          <a:ln w="12700">
            <a:solidFill>
              <a:srgbClr val="3D405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87568" y="1371600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Switzerland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687568" y="1719072"/>
            <a:ext cx="1426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2027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272784" y="2414016"/>
            <a:ext cx="256032" cy="256032"/>
          </a:xfrm>
          <a:prstGeom prst="ellipse">
            <a:avLst/>
          </a:prstGeom>
          <a:solidFill>
            <a:srgbClr val="3D405B"/>
          </a:solidFill>
          <a:ln w="12700">
            <a:solidFill>
              <a:srgbClr val="3D405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614416" y="2788920"/>
            <a:ext cx="1572768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705856" y="2880360"/>
            <a:ext cx="138988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CHF pricing live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segment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high LTV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333488" y="1261872"/>
            <a:ext cx="1572768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333488" y="1261872"/>
            <a:ext cx="1572768" cy="45720"/>
          </a:xfrm>
          <a:prstGeom prst="rect">
            <a:avLst/>
          </a:prstGeom>
          <a:solidFill>
            <a:srgbClr val="8B8FA8"/>
          </a:solidFill>
          <a:ln w="12700">
            <a:solidFill>
              <a:srgbClr val="8B8FA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06640" y="1371600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/ Nordics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7406640" y="1719072"/>
            <a:ext cx="1426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2027+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991856" y="2414016"/>
            <a:ext cx="256032" cy="256032"/>
          </a:xfrm>
          <a:prstGeom prst="ellipse">
            <a:avLst/>
          </a:prstGeom>
          <a:solidFill>
            <a:srgbClr val="8B8FA8"/>
          </a:solidFill>
          <a:ln w="12700">
            <a:solidFill>
              <a:srgbClr val="8B8FA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333488" y="2788920"/>
            <a:ext cx="1572768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424928" y="2880360"/>
            <a:ext cx="138988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market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EU divorce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on MRR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57200" y="49194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enter France, US, or Nordics before Germany validates the model.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01752"/>
            <a:ext cx="54864" cy="201168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07A5F"/>
                </a:solidFill>
              </a:rPr>
              <a:t>MOAT ROADMAP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SEG-11 - Features that make Do-Do impossible to leave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4160520" cy="1371600"/>
          </a:xfrm>
          <a:prstGeom prst="rect">
            <a:avLst/>
          </a:prstGeom>
          <a:solidFill>
            <a:srgbClr val="2A2A3E"/>
          </a:solidFill>
          <a:ln w="12700">
            <a:solidFill>
              <a:srgbClr val="2A2A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828800"/>
            <a:ext cx="54864" cy="1371600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92024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11.1  Legal export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55848" y="1920240"/>
            <a:ext cx="1170432" cy="237744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55848" y="1920240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URGENT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21792" y="2231136"/>
            <a:ext cx="3904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pilot ends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21792" y="2468880"/>
            <a:ext cx="3904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Timestamped PDF of all expenses, cards, messages in court-presentable format. Lawyer-endorsed. After 12 months of records, no competitor can give users that history retroactively.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0" y="1828800"/>
            <a:ext cx="4160520" cy="1371600"/>
          </a:xfrm>
          <a:prstGeom prst="rect">
            <a:avLst/>
          </a:prstGeom>
          <a:solidFill>
            <a:srgbClr val="2A2A3E"/>
          </a:solidFill>
          <a:ln w="12700">
            <a:solidFill>
              <a:srgbClr val="2A2A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828800"/>
            <a:ext cx="54864" cy="1371600"/>
          </a:xfrm>
          <a:prstGeom prst="rect">
            <a:avLst/>
          </a:prstGeom>
          <a:solidFill>
            <a:srgbClr val="81B29A"/>
          </a:solidFill>
          <a:ln w="12700">
            <a:solidFill>
              <a:srgbClr val="81B2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9472" y="192024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11.2  Shared history view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653528" y="1920240"/>
            <a:ext cx="1170432" cy="237744"/>
          </a:xfrm>
          <a:prstGeom prst="rect">
            <a:avLst/>
          </a:prstGeom>
          <a:solidFill>
            <a:srgbClr val="81B29A"/>
          </a:solidFill>
          <a:ln w="12700">
            <a:solidFill>
              <a:srgbClr val="81B2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53528" y="1920240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EASIEST WIN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919472" y="2231136"/>
            <a:ext cx="3904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1B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of pilot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919472" y="2468880"/>
            <a:ext cx="3904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'You and [partner] have coordinated 47 things together.' Makes the switching cost emotionally real. 1 day to build.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3337560"/>
            <a:ext cx="4160520" cy="1371600"/>
          </a:xfrm>
          <a:prstGeom prst="rect">
            <a:avLst/>
          </a:prstGeom>
          <a:solidFill>
            <a:srgbClr val="2A2A3E"/>
          </a:solidFill>
          <a:ln w="12700">
            <a:solidFill>
              <a:srgbClr val="2A2A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337560"/>
            <a:ext cx="54864" cy="1371600"/>
          </a:xfrm>
          <a:prstGeom prst="rect">
            <a:avLst/>
          </a:prstGeom>
          <a:solidFill>
            <a:srgbClr val="8B8FA8"/>
          </a:solidFill>
          <a:ln w="12700">
            <a:solidFill>
              <a:srgbClr val="8B8F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" y="342900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11.3  Mediator dashboard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355848" y="3429000"/>
            <a:ext cx="1170432" cy="237744"/>
          </a:xfrm>
          <a:prstGeom prst="rect">
            <a:avLst/>
          </a:prstGeom>
          <a:solidFill>
            <a:srgbClr val="8B8FA8"/>
          </a:solidFill>
          <a:ln w="12700">
            <a:solidFill>
              <a:srgbClr val="8B8F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55848" y="3429000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621792" y="3739896"/>
            <a:ext cx="3904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1st mediator meeting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21792" y="3977640"/>
            <a:ext cx="3904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Bookmarkable stats page for mediators. No login. 'Families referred: 8. Both active: 6.' Closes the feedback loop and keeps mediators invested.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0" y="3337560"/>
            <a:ext cx="4160520" cy="1371600"/>
          </a:xfrm>
          <a:prstGeom prst="rect">
            <a:avLst/>
          </a:prstGeom>
          <a:solidFill>
            <a:srgbClr val="2A2A3E"/>
          </a:solidFill>
          <a:ln w="12700">
            <a:solidFill>
              <a:srgbClr val="2A2A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3337560"/>
            <a:ext cx="54864" cy="1371600"/>
          </a:xfrm>
          <a:prstGeom prst="rect">
            <a:avLst/>
          </a:prstGeom>
          <a:solidFill>
            <a:srgbClr val="3D405B"/>
          </a:solidFill>
          <a:ln w="12700">
            <a:solidFill>
              <a:srgbClr val="3D405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9472" y="342900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11.4  Schedule cascade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653528" y="3429000"/>
            <a:ext cx="1170432" cy="237744"/>
          </a:xfrm>
          <a:prstGeom prst="rect">
            <a:avLst/>
          </a:prstGeom>
          <a:solidFill>
            <a:srgbClr val="3D405B"/>
          </a:solidFill>
          <a:ln w="12700">
            <a:solidFill>
              <a:srgbClr val="3D405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53528" y="3429000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OFW KILLER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919472" y="3739896"/>
            <a:ext cx="3904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legal export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919472" y="3977640"/>
            <a:ext cx="3904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custody week templates. One action moves an entire week - all cards, GCal, push to both partners. Direct answer to OFW Pain 3.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2A2A3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49440" y="274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2 WEEKS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995160" y="713232"/>
            <a:ext cx="146304" cy="146304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23760" y="65836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RLS audit in Supabase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995160" y="1490472"/>
            <a:ext cx="146304" cy="146304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23760" y="143560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Stripe PLN + EUR products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995160" y="2267712"/>
            <a:ext cx="146304" cy="146304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23760" y="221284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10 founding users this week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995160" y="3044952"/>
            <a:ext cx="146304" cy="146304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23760" y="299008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20 Polish mediators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995160" y="3822192"/>
            <a:ext cx="146304" cy="146304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23760" y="376732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survey before product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995160" y="4599432"/>
            <a:ext cx="146304" cy="146304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23760" y="454456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SEG-11.2 shared history (1 day)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411480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decision that changes everything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914400"/>
            <a:ext cx="6217920" cy="1508760"/>
          </a:xfrm>
          <a:prstGeom prst="rect">
            <a:avLst/>
          </a:prstGeom>
          <a:solidFill>
            <a:srgbClr val="2A2A3E"/>
          </a:solidFill>
          <a:ln w="12700">
            <a:solidFill>
              <a:srgbClr val="2A2A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914400"/>
            <a:ext cx="73152" cy="1508760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987552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partner join rate is below 50%,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else in this plan matters.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58368" y="1920240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other metric is downstream of two people both using the app.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2514600"/>
            <a:ext cx="6217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solve the partner join problem, distribution becomes easy.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people recommend the app from their own perspective.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320040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do not solve it, you can acquire 10,000 signups and end up with 200 active users.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3931920"/>
            <a:ext cx="6217920" cy="22860"/>
          </a:xfrm>
          <a:prstGeom prst="rect">
            <a:avLst/>
          </a:prstGeom>
          <a:solidFill>
            <a:srgbClr val="3D405B"/>
          </a:solidFill>
          <a:ln w="12700">
            <a:solidFill>
              <a:srgbClr val="3D405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06908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do-do.app  |  Founders Meeting June 2026  |  Confidential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Do-Do - Founders Meeting</dc:title>
  <dc:subject>PptxGenJS Presentation</dc:subject>
  <dc:creator>PptxGenJS</dc:creator>
  <cp:lastModifiedBy>PptxGenJS</cp:lastModifiedBy>
  <cp:revision>1</cp:revision>
  <dcterms:created xsi:type="dcterms:W3CDTF">2026-06-08T18:39:47Z</dcterms:created>
  <dcterms:modified xsi:type="dcterms:W3CDTF">2026-06-08T18:39:47Z</dcterms:modified>
</cp:coreProperties>
</file>